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66" r:id="rId7"/>
    <p:sldId id="273" r:id="rId8"/>
    <p:sldId id="274" r:id="rId9"/>
    <p:sldId id="264" r:id="rId10"/>
    <p:sldId id="267" r:id="rId11"/>
    <p:sldId id="268" r:id="rId12"/>
    <p:sldId id="270" r:id="rId13"/>
    <p:sldId id="272" r:id="rId14"/>
    <p:sldId id="275" r:id="rId15"/>
    <p:sldId id="276" r:id="rId16"/>
    <p:sldId id="269" r:id="rId17"/>
    <p:sldId id="271" r:id="rId1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BCF81-4F41-8B36-9B2D-777854215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FB2FA00-4852-A514-5783-A5350057D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912184-0567-92A5-EC74-58D5478C4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26055D-CC2A-0C2E-AC5A-2234B7389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04C3D4-CF65-62BB-C0DB-3E670D34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1123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FF6BF7-7A2F-4F37-D677-5AA8E145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A21B44-224D-CF0F-111A-1B8A0E363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E1E213-3C23-1B92-FDA3-3DB7DEE1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D0FFCE-2973-CAC2-B59C-8AA4B8AC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FE924A-E320-9087-96A1-6C45CD04E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805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2DBAF-FC28-0507-90C8-48B6197B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B68229-82C8-7315-6CDD-8627AFA9B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403B62-70CA-E261-4850-83ADA9BE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CCACEE-56EF-66B0-715E-FB37D6CA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102C33-C983-DFA4-8913-0690917C2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148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B0C9D2-05BB-5439-C02A-26A9A92D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77EBAB-35D0-EB7A-C485-FF60CC15C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CC0C25-1141-E967-B64C-CE460F838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5483E0-0627-91B8-2E02-2DA1C3FF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691985-E2F2-E619-B5C8-7783AC62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B4245E-CA9E-86C8-A4DF-5A493272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341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2E529-2356-7D36-7EAC-348CE1AB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B9A55A-1D79-D9F4-5A08-37290946C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EAB5A6-D403-8C52-E91A-8E4FCB0AB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394CF5D-CEFC-D60E-1115-7D909651F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731EFA-EB62-2424-37CF-9A36A6542E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6BA3117-1EFF-A81D-5085-C8747DCE5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01CB254-56F4-9331-E046-F2CE09DF5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467E75-72FA-D448-D6C1-B0842A78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558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CC4AD-65B2-2C26-B08D-2FB47901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41FACE-A5C6-D7FB-1045-8ABD44B8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BED189-6716-856D-003E-A27D87B6B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3E6DA9-F99B-8ADC-1588-673816CC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277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2ABCACC-FDA4-9E3C-FA6B-9A33CF6AE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352CF3-1386-9C34-F901-8C798D5B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AEAE18-689C-4A01-BB82-45648288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422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A8DF8-A270-E9B1-22AE-A7C292819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10B74F-445A-3340-9C35-712F265A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0FCEC7-F4E4-A30E-2FDB-C97A88544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F6BD8E-AE75-1DC8-DA3C-5575BD86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CF0B0E-6BCB-5CAD-D5AD-1BB5DC90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FA1D13-24B0-9EF4-E8F7-07081572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77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0CB76-B245-781A-68A2-B507EEBEB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C29D1C9-564A-BD61-64A4-F8CB44EE8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3481E8-4577-D2AA-1F10-7673C15A4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0E5CF3-1608-3A2C-490B-5CFE8908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9D2DDA-F834-D629-3213-F45A699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B41F9C-705F-F97D-A6B8-C7CFC0BB5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3030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82EB81-08F4-B9A6-CA1A-173479B83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F614D7-477A-CCF3-5D6B-DD711287A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1E3ED4-575C-E377-C85B-0D5BF267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B8A977-E959-05CB-32A9-5EB95266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32201C-0F60-7E3A-27E9-98185B61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293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583A19-6779-8A04-FA17-700BC30787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49BF9E0-5C53-CF13-D3C3-94517DB91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BC7C98-95BA-1136-FB2F-329340DA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A03887-7280-4DFB-1789-E54627A6B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04537-C97F-9B77-D31B-50B41AB5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104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02E738B-57D5-F103-6102-22DBF9D9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DDFF18-9EA3-5461-AA64-8E1F4CE53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39C3B5-AAF6-9B05-3D79-87773F0F2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47E7C-AC5F-4734-B4D1-FBD9D5E3D9A7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692DBD-A33A-52CD-951F-9B5391F72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809F76-4181-2950-228E-518818230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7134C-820F-486B-87AC-0B68D5C28274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60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1CA68A-1A85-D8CA-F01D-E51393378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Dynamical changes upon CO2 sorption in a </a:t>
            </a:r>
            <a:r>
              <a:rPr lang="en-GB" dirty="0" err="1"/>
              <a:t>nanometer</a:t>
            </a:r>
            <a:r>
              <a:rPr lang="en-GB" dirty="0"/>
              <a:t>-thin film of polyethylene imine</a:t>
            </a:r>
            <a:endParaRPr lang="LID4096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0B1254-3A7B-5E65-67AE-C1ED058012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Max Wolters</a:t>
            </a:r>
          </a:p>
          <a:p>
            <a:r>
              <a:rPr lang="en-GB" dirty="0"/>
              <a:t>09.07.2026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06621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53675-FCE2-E266-5C61-0480F9BB8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and Measurement</a:t>
            </a:r>
            <a:endParaRPr lang="LID4096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838447-F312-F462-BE62-5094F9481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25 kg/mol PEI​, 5mg/mL solution</a:t>
            </a:r>
          </a:p>
          <a:p>
            <a:pPr fontAlgn="base"/>
            <a:r>
              <a:rPr lang="en-US" dirty="0"/>
              <a:t>Spin-cast​</a:t>
            </a:r>
            <a:r>
              <a:rPr lang="en-US" dirty="0" err="1"/>
              <a:t>ing</a:t>
            </a:r>
            <a:r>
              <a:rPr lang="en-US" dirty="0"/>
              <a:t>, roughly 40 nm thin film (AFM)</a:t>
            </a:r>
            <a:endParaRPr lang="en-GB" dirty="0"/>
          </a:p>
          <a:p>
            <a:pPr fontAlgn="base"/>
            <a:r>
              <a:rPr lang="en-US" dirty="0"/>
              <a:t>Heating, tempering, cooling, equilibration, absorption, desorption</a:t>
            </a:r>
          </a:p>
          <a:p>
            <a:pPr fontAlgn="base"/>
            <a:r>
              <a:rPr lang="en-US" dirty="0"/>
              <a:t>BDS: 100 Hz – 0.9 GHz (logarithmic scale), 24 measuring points, 6 per decade</a:t>
            </a:r>
          </a:p>
          <a:p>
            <a:pPr fontAlgn="base"/>
            <a:r>
              <a:rPr lang="en-US" dirty="0"/>
              <a:t>Temperatures: (50, 60, 70, 80, 90)°C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38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17AAAE-2FB6-4338-13AE-FDB053B7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</a:t>
            </a:r>
            <a:endParaRPr lang="LID4096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19CBAA-8C3D-6D82-0E98-7FD654FEE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Determination of atmosphere switch point</a:t>
            </a:r>
          </a:p>
          <a:p>
            <a:r>
              <a:rPr lang="en-GB" dirty="0"/>
              <a:t>Interpolation</a:t>
            </a:r>
          </a:p>
          <a:p>
            <a:r>
              <a:rPr lang="en-GB" dirty="0"/>
              <a:t>Step hight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1092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7D04C-6993-B048-FEE0-4D365C01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Influence of switch point on step hight</a:t>
            </a:r>
            <a:endParaRPr lang="LID4096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1A7FACD-0568-F912-85BE-AEBF6D0A4F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59740"/>
            <a:ext cx="5181600" cy="3283107"/>
          </a:xfrm>
          <a:prstGeom prst="rect">
            <a:avLst/>
          </a:prstGeom>
        </p:spPr>
      </p:pic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CDDAAFA1-75F4-47C7-C57D-16556D27B4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359740"/>
            <a:ext cx="5181600" cy="328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50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7C7887-9603-BC8A-6AB5-52EC5289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delta_epsilon_step</a:t>
            </a:r>
            <a:endParaRPr lang="LID4096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18788FF-E45E-9234-8AB6-B91B315AB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Absorption</a:t>
            </a:r>
          </a:p>
          <a:p>
            <a:r>
              <a:rPr lang="en-GB" dirty="0"/>
              <a:t>Interpolation artefact</a:t>
            </a:r>
            <a:endParaRPr lang="LID4096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84F85FED-C9BA-CADA-B7D1-47CBE70E41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711857"/>
            <a:ext cx="5157787" cy="3271023"/>
          </a:xfrm>
          <a:prstGeom prst="rect">
            <a:avLst/>
          </a:prstGeom>
        </p:spPr>
      </p:pic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8DBDA268-BB27-2088-C8C5-02702B3D4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Desorption</a:t>
            </a:r>
          </a:p>
          <a:p>
            <a:r>
              <a:rPr lang="en-GB" dirty="0"/>
              <a:t>Two-step process</a:t>
            </a:r>
            <a:endParaRPr lang="LID4096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5318A187-26C9-B376-382A-736072AE9B8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703803"/>
            <a:ext cx="5183188" cy="328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3AB87D1-2D2D-76C3-812A-D38FAD4D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Delta_epsilon_step Desorption </a:t>
            </a:r>
            <a:endParaRPr lang="LID4096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B4AFF1E-A94A-6F60-61C4-14E1E58698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97943" y="1593052"/>
            <a:ext cx="3992593" cy="2647748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2887EFE-7173-FF82-65BF-11A477E22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823" y="1593052"/>
            <a:ext cx="6338977" cy="4351338"/>
          </a:xfrm>
        </p:spPr>
        <p:txBody>
          <a:bodyPr/>
          <a:lstStyle/>
          <a:p>
            <a:r>
              <a:rPr lang="en-GB"/>
              <a:t>Fit-function: double sigmoid</a:t>
            </a:r>
          </a:p>
          <a:p>
            <a:r>
              <a:rPr lang="en-GB"/>
              <a:t>Does not really include first step</a:t>
            </a:r>
          </a:p>
          <a:p>
            <a:r>
              <a:rPr lang="en-GB"/>
              <a:t>Vanishes for high T</a:t>
            </a:r>
            <a:endParaRPr lang="LID4096"/>
          </a:p>
          <a:p>
            <a:endParaRPr lang="LID4096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EFB3135-6D21-5EA0-C2FE-966A60BAB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64" y="4389023"/>
            <a:ext cx="3657600" cy="215940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BAA0F91-BB30-8453-8B9F-735B6788D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264" y="4426087"/>
            <a:ext cx="3532043" cy="2085279"/>
          </a:xfrm>
          <a:prstGeom prst="rect">
            <a:avLst/>
          </a:prstGeom>
        </p:spPr>
      </p:pic>
      <p:pic>
        <p:nvPicPr>
          <p:cNvPr id="8" name="Inhaltsplatzhalter 5">
            <a:extLst>
              <a:ext uri="{FF2B5EF4-FFF2-40B4-BE49-F238E27FC236}">
                <a16:creationId xmlns:a16="http://schemas.microsoft.com/office/drawing/2014/main" id="{5F034AEB-3642-93AA-FE3B-4B9D88824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9191" y="4389023"/>
            <a:ext cx="3796145" cy="224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6C1854C-B5FC-CAAE-9F6F-E4093930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Delta_epsilon_step</a:t>
            </a:r>
            <a:r>
              <a:rPr lang="en-GB" dirty="0"/>
              <a:t> Absorption (1)</a:t>
            </a:r>
            <a:endParaRPr lang="LID4096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40B30DD-4B80-0A08-5A36-912B5E57B2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4381" y="1582686"/>
            <a:ext cx="3906982" cy="2418608"/>
          </a:xfrm>
          <a:prstGeom prst="rect">
            <a:avLst/>
          </a:prstGeom>
        </p:spPr>
      </p:pic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BFCF703-8A19-7CF4-263E-BDA069A37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1634836"/>
            <a:ext cx="6553200" cy="4542127"/>
          </a:xfrm>
        </p:spPr>
        <p:txBody>
          <a:bodyPr/>
          <a:lstStyle/>
          <a:p>
            <a:r>
              <a:rPr lang="en-GB" dirty="0"/>
              <a:t>First part:</a:t>
            </a:r>
          </a:p>
          <a:p>
            <a:r>
              <a:rPr lang="en-GB" dirty="0"/>
              <a:t>50 °C: 46.6 s</a:t>
            </a:r>
          </a:p>
          <a:p>
            <a:r>
              <a:rPr lang="en-GB" dirty="0"/>
              <a:t>60 °C: 45.5 s</a:t>
            </a:r>
          </a:p>
          <a:p>
            <a:r>
              <a:rPr lang="en-GB" dirty="0"/>
              <a:t>70 °C: 48.9 s</a:t>
            </a:r>
          </a:p>
          <a:p>
            <a:r>
              <a:rPr lang="en-GB" dirty="0"/>
              <a:t>80 °C: 35.7 s</a:t>
            </a:r>
          </a:p>
          <a:p>
            <a:r>
              <a:rPr lang="en-GB" dirty="0"/>
              <a:t>90 °C: 25.2 s</a:t>
            </a:r>
          </a:p>
          <a:p>
            <a:r>
              <a:rPr lang="en-GB" dirty="0"/>
              <a:t>Const. for (50, 60, 70) °C, should be T-dependent?</a:t>
            </a:r>
          </a:p>
          <a:p>
            <a:r>
              <a:rPr lang="en-GB" dirty="0"/>
              <a:t>Better fit function?</a:t>
            </a:r>
            <a:endParaRPr lang="LID4096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087186-FF27-B225-2D05-65BCD263D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81" y="4243697"/>
            <a:ext cx="4073126" cy="248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6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21EDC-A653-4392-E128-7E99DED8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Delta_epsilon_step</a:t>
            </a:r>
            <a:r>
              <a:rPr lang="en-GB" dirty="0"/>
              <a:t> Absorption (2)</a:t>
            </a:r>
            <a:endParaRPr lang="LID4096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FB7155E-0158-EA7B-82DF-41C78D9B9D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2727" y="1690688"/>
            <a:ext cx="3525982" cy="2145851"/>
          </a:xfrm>
          <a:prstGeom prst="rect">
            <a:avLst/>
          </a:prstGeo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19A6E5-ECCF-ECB4-15B9-7F2D3850B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" y="4094452"/>
            <a:ext cx="6525491" cy="4486275"/>
          </a:xfrm>
        </p:spPr>
        <p:txBody>
          <a:bodyPr/>
          <a:lstStyle/>
          <a:p>
            <a:r>
              <a:rPr lang="en-GB" dirty="0"/>
              <a:t>Second part:</a:t>
            </a:r>
          </a:p>
          <a:p>
            <a:r>
              <a:rPr lang="en-GB" dirty="0"/>
              <a:t>Fit works quiet well</a:t>
            </a:r>
          </a:p>
          <a:p>
            <a:r>
              <a:rPr lang="en-GB" dirty="0"/>
              <a:t>Arrhenius function</a:t>
            </a:r>
          </a:p>
          <a:p>
            <a:r>
              <a:rPr lang="en-GB" dirty="0"/>
              <a:t>There might be even a third part</a:t>
            </a:r>
            <a:endParaRPr lang="LID4096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50F128E-C91D-81D6-4C92-869B34975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072" y="1690688"/>
            <a:ext cx="5861995" cy="36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4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210820-1CBB-CA10-721E-B8D91E9E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</a:t>
            </a:r>
            <a:endParaRPr lang="LID4096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246025-1A4D-37BC-C72B-6526AAE8C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Numerical differentiation</a:t>
            </a:r>
          </a:p>
          <a:p>
            <a:r>
              <a:rPr lang="en-GB" dirty="0"/>
              <a:t>Manipulation</a:t>
            </a:r>
          </a:p>
          <a:p>
            <a:r>
              <a:rPr lang="en-GB" dirty="0"/>
              <a:t>Fitting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0397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23D599-C75F-AD62-6D50-6228375C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Fitting</a:t>
            </a:r>
            <a:endParaRPr lang="LID4096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C99F65-05BE-A513-9F49-813A79173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Epsilon_real_derivative</a:t>
            </a:r>
            <a:r>
              <a:rPr lang="en-GB" dirty="0"/>
              <a:t> in log space</a:t>
            </a:r>
          </a:p>
          <a:p>
            <a:r>
              <a:rPr lang="en-GB" dirty="0"/>
              <a:t>HN function + power law baseline</a:t>
            </a:r>
          </a:p>
          <a:p>
            <a:r>
              <a:rPr lang="en-GB" dirty="0"/>
              <a:t>sequential time-series fitting</a:t>
            </a:r>
          </a:p>
          <a:p>
            <a:r>
              <a:rPr lang="en-GB" dirty="0"/>
              <a:t>Parameters:</a:t>
            </a:r>
          </a:p>
          <a:p>
            <a:pPr lvl="1"/>
            <a:r>
              <a:rPr lang="en-GB" dirty="0"/>
              <a:t>P</a:t>
            </a:r>
            <a:r>
              <a:rPr lang="" dirty="0"/>
              <a:t>eak height</a:t>
            </a:r>
          </a:p>
          <a:p>
            <a:pPr lvl="1"/>
            <a:r>
              <a:rPr lang="en-GB" dirty="0"/>
              <a:t>S</a:t>
            </a:r>
            <a:r>
              <a:rPr lang="" dirty="0"/>
              <a:t>lopes: alpha, alpha_beta</a:t>
            </a:r>
          </a:p>
          <a:p>
            <a:pPr lvl="1"/>
            <a:r>
              <a:rPr lang="" dirty="0"/>
              <a:t>Peak position: omega_p</a:t>
            </a:r>
          </a:p>
          <a:p>
            <a:pPr lvl="1"/>
            <a:r>
              <a:rPr lang="en-GB" dirty="0"/>
              <a:t>B</a:t>
            </a:r>
            <a:r>
              <a:rPr lang="" dirty="0"/>
              <a:t>aseline (slope smoothed to reduce noise)</a:t>
            </a:r>
            <a:endParaRPr lang="en-GB" dirty="0"/>
          </a:p>
          <a:p>
            <a:r>
              <a:rPr lang="en-GB" dirty="0"/>
              <a:t>So far for (50, 60, 70)°C</a:t>
            </a:r>
          </a:p>
          <a:p>
            <a:r>
              <a:rPr lang="en-GB" dirty="0"/>
              <a:t>For (80, 90)°C poor data quality + other model necessary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98459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6E19ECE-92C0-6F49-6EFA-2BFECDE44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50°C </a:t>
            </a:r>
            <a:endParaRPr lang="LID4096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47B0F55-6F1A-8F5B-B527-93FD243AC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Start Absorption</a:t>
            </a:r>
            <a:endParaRPr lang="LID4096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0722F20-936B-78F6-E877-E4B324CF8B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635842"/>
            <a:ext cx="5157787" cy="3423053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133CB2C-D8F0-0A9B-65FA-B9247FF13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Start Desorption</a:t>
            </a:r>
            <a:endParaRPr lang="LID4096" dirty="0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709B2FFB-4223-7B6B-60F0-873B998ADEE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627413"/>
            <a:ext cx="5183188" cy="343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96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B3CC4E-5001-823C-7991-1A3276A1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Delta_epsilon_fit</a:t>
            </a:r>
            <a:endParaRPr lang="LID4096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78E941-EC28-0971-AB23-49E93D66D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Absorption</a:t>
            </a:r>
            <a:endParaRPr lang="LID4096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FBCC81C-FAF3-C2CD-ECD3-EDA50B729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Desorption</a:t>
            </a:r>
            <a:endParaRPr lang="LID4096" dirty="0"/>
          </a:p>
        </p:txBody>
      </p:sp>
      <p:pic>
        <p:nvPicPr>
          <p:cNvPr id="14" name="Inhaltsplatzhalter 13">
            <a:extLst>
              <a:ext uri="{FF2B5EF4-FFF2-40B4-BE49-F238E27FC236}">
                <a16:creationId xmlns:a16="http://schemas.microsoft.com/office/drawing/2014/main" id="{4C8266D1-10B3-6CFD-CAFD-A76830B74F0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2627509"/>
            <a:ext cx="5183188" cy="3439719"/>
          </a:xfrm>
          <a:prstGeom prst="rect">
            <a:avLst/>
          </a:prstGeom>
        </p:spPr>
      </p:pic>
      <p:pic>
        <p:nvPicPr>
          <p:cNvPr id="12" name="Inhaltsplatzhalter 8">
            <a:extLst>
              <a:ext uri="{FF2B5EF4-FFF2-40B4-BE49-F238E27FC236}">
                <a16:creationId xmlns:a16="http://schemas.microsoft.com/office/drawing/2014/main" id="{B313B1E6-A88A-CA9E-9F7C-58B5055F07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635938"/>
            <a:ext cx="5157787" cy="34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87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7D76AF-6CF6-0086-695F-270A9735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Comparisson</a:t>
            </a:r>
            <a:br>
              <a:rPr lang="en-GB" dirty="0"/>
            </a:br>
            <a:r>
              <a:rPr lang="en-GB" dirty="0" err="1"/>
              <a:t>delta_epsilon_step</a:t>
            </a:r>
            <a:r>
              <a:rPr lang="en-GB" dirty="0"/>
              <a:t> vs </a:t>
            </a:r>
            <a:r>
              <a:rPr lang="en-GB" dirty="0" err="1"/>
              <a:t>delta_epsilon_fit</a:t>
            </a:r>
            <a:r>
              <a:rPr lang="en-GB" dirty="0"/>
              <a:t> </a:t>
            </a:r>
            <a:endParaRPr lang="LID4096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D3B3DD9-01CE-4DCF-B33C-22E36ED01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202" y="1954502"/>
            <a:ext cx="3349670" cy="222294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BBA30CA-FF4D-C30A-887C-205F59D81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19" y="4225637"/>
            <a:ext cx="3388953" cy="225058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3DEB35F-9962-359E-3CAE-B080CC8A0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065" y="4225637"/>
            <a:ext cx="3449583" cy="228764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344C606-A057-75B8-ADA1-C303A6CDA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0782" y="1936390"/>
            <a:ext cx="3449583" cy="228924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AA9A701-9C78-DCB2-BCF0-04E93C2B2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717" y="1954502"/>
            <a:ext cx="3349670" cy="222294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4FDD218-5DBE-7E96-9438-F76A6337FE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4717" y="4225637"/>
            <a:ext cx="3349669" cy="222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65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89D19-A90E-825B-78DD-A13F5EEC7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Delta_epsilon_fit</a:t>
            </a:r>
            <a:r>
              <a:rPr lang="en-GB" dirty="0"/>
              <a:t> Absorption</a:t>
            </a:r>
            <a:endParaRPr lang="LID4096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FB4D31B-CD90-264A-4DBC-D1414B1D88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2691" y="1645517"/>
            <a:ext cx="3709088" cy="2296102"/>
          </a:xfrm>
          <a:prstGeom prst="rect">
            <a:avLst/>
          </a:prstGeom>
        </p:spPr>
      </p:pic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088ABDD6-41A6-0703-5975-E98709BF4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382" y="4211781"/>
            <a:ext cx="10723418" cy="196518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For (50, 60) °C only first part visible</a:t>
            </a:r>
          </a:p>
          <a:p>
            <a:r>
              <a:rPr lang="en-GB" dirty="0"/>
              <a:t>What about second (or even third) part?</a:t>
            </a:r>
          </a:p>
          <a:p>
            <a:r>
              <a:rPr lang="en-GB" dirty="0"/>
              <a:t>Decreasing time constant</a:t>
            </a:r>
            <a:br>
              <a:rPr lang="en-GB" dirty="0"/>
            </a:br>
            <a:r>
              <a:rPr lang="en-GB" dirty="0"/>
              <a:t>in different order of magnitude</a:t>
            </a:r>
            <a:br>
              <a:rPr lang="en-GB" dirty="0"/>
            </a:br>
            <a:r>
              <a:rPr lang="en-GB" dirty="0"/>
              <a:t>compared to const. 47 s</a:t>
            </a:r>
            <a:br>
              <a:rPr lang="en-GB" dirty="0"/>
            </a:br>
            <a:r>
              <a:rPr lang="en-GB" dirty="0"/>
              <a:t>for </a:t>
            </a:r>
            <a:r>
              <a:rPr lang="en-GB" dirty="0" err="1"/>
              <a:t>delta_epsilon_step</a:t>
            </a:r>
            <a:endParaRPr lang="en-GB" dirty="0"/>
          </a:p>
          <a:p>
            <a:endParaRPr lang="LID4096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9EE00CE-AD9B-7A8F-E9BE-A5845E55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763" y="1673226"/>
            <a:ext cx="3709088" cy="229610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25C295E-CD3A-2733-6DAF-5E3A28D9B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913" y="1700935"/>
            <a:ext cx="3619567" cy="224068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A778724-5E01-1B83-6E68-E2ACF7E0C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935" y="4211781"/>
            <a:ext cx="3675545" cy="229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52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0EF772-8206-09ED-689F-F7A2F899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Delta_epsilon_fit</a:t>
            </a:r>
            <a:r>
              <a:rPr lang="en-GB" dirty="0"/>
              <a:t> Desorption</a:t>
            </a:r>
            <a:endParaRPr lang="LID4096" dirty="0"/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425801ED-691E-54C5-F773-9A330FCE62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33294" y="4190052"/>
            <a:ext cx="3949662" cy="2445029"/>
          </a:xfrm>
          <a:prstGeom prst="rect">
            <a:avLst/>
          </a:prstGeom>
        </p:spPr>
      </p:pic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EF890458-2E40-2DC3-C399-4E1950F873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766803" y="1610652"/>
            <a:ext cx="4016153" cy="248619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55605E2-A16D-3CF5-35A9-96ADDE460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956" y="1610652"/>
            <a:ext cx="3962917" cy="245323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700F43F-ECD8-258D-3699-45B3DF5DE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739" y="4247222"/>
            <a:ext cx="4016152" cy="248619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D771D87-1450-1410-1525-DA736EC18A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87" y="1610652"/>
            <a:ext cx="3765407" cy="2330966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D78CF6A6-DD10-3EAC-CF6D-152EE82E8AF5}"/>
              </a:ext>
            </a:extLst>
          </p:cNvPr>
          <p:cNvSpPr txBox="1"/>
          <p:nvPr/>
        </p:nvSpPr>
        <p:spPr>
          <a:xfrm>
            <a:off x="471055" y="4336473"/>
            <a:ext cx="3151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second part for 50 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Fit for first party doesn’t really work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71501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C3BFD1-F67D-8AAF-540A-6B9425E3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LID4096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2C1396-7B0B-FBA3-2045-A4408785C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Switch point important</a:t>
            </a:r>
          </a:p>
          <a:p>
            <a:r>
              <a:rPr lang="en-GB" dirty="0"/>
              <a:t>Two step process desorption</a:t>
            </a:r>
          </a:p>
          <a:p>
            <a:r>
              <a:rPr lang="en-GB" dirty="0" err="1"/>
              <a:t>Delta_epsilon_step</a:t>
            </a:r>
            <a:r>
              <a:rPr lang="en-GB" dirty="0"/>
              <a:t>: yet unknown long-term behaviour</a:t>
            </a:r>
          </a:p>
          <a:p>
            <a:r>
              <a:rPr lang="en-GB" dirty="0" err="1"/>
              <a:t>Delta_epsilon_step</a:t>
            </a:r>
            <a:r>
              <a:rPr lang="en-GB" dirty="0"/>
              <a:t> vs </a:t>
            </a:r>
            <a:r>
              <a:rPr lang="en-GB" dirty="0" err="1"/>
              <a:t>delta_epsilon_fit</a:t>
            </a:r>
            <a:endParaRPr lang="en-GB" dirty="0"/>
          </a:p>
          <a:p>
            <a:r>
              <a:rPr lang="en-GB" dirty="0" err="1"/>
              <a:t>Delta_epsilon_fit</a:t>
            </a:r>
            <a:r>
              <a:rPr lang="en-GB" dirty="0"/>
              <a:t> Only accounts for one process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42295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009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Breitbild</PresentationFormat>
  <Paragraphs>72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</vt:lpstr>
      <vt:lpstr>Dynamical changes upon CO2 sorption in a nanometer-thin film of polyethylene imine</vt:lpstr>
      <vt:lpstr>Sample and Measurement</vt:lpstr>
      <vt:lpstr>Analysis</vt:lpstr>
      <vt:lpstr>Influence of switch point on step hight</vt:lpstr>
      <vt:lpstr>delta_epsilon_step</vt:lpstr>
      <vt:lpstr>Delta_epsilon_step Desorption </vt:lpstr>
      <vt:lpstr>Delta_epsilon_step Absorption (1)</vt:lpstr>
      <vt:lpstr>Delta_epsilon_step Absorption (2)</vt:lpstr>
      <vt:lpstr>Analysis</vt:lpstr>
      <vt:lpstr>Fitting</vt:lpstr>
      <vt:lpstr>Example: 50°C </vt:lpstr>
      <vt:lpstr>Delta_epsilon_fit</vt:lpstr>
      <vt:lpstr>Comparisson delta_epsilon_step vs delta_epsilon_fit </vt:lpstr>
      <vt:lpstr>Delta_epsilon_fit Absorption</vt:lpstr>
      <vt:lpstr>Delta_epsilon_fit Desorption</vt:lpstr>
      <vt:lpstr>Summary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Wolters, Max</dc:creator>
  <cp:lastModifiedBy>Wolters, Max</cp:lastModifiedBy>
  <cp:revision>4</cp:revision>
  <dcterms:created xsi:type="dcterms:W3CDTF">2026-06-27T12:04:30Z</dcterms:created>
  <dcterms:modified xsi:type="dcterms:W3CDTF">2026-07-09T11:46:40Z</dcterms:modified>
</cp:coreProperties>
</file>